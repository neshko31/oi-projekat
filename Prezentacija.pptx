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6G6zLJy2Deyi/X2/Wf9hNc1Ku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" Target="slides/slide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2.xml"/><Relationship Id="rId18" Type="http://schemas.openxmlformats.org/officeDocument/2006/relationships/font" Target="fonts/Robo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a10c4f8e9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ca10c4f8e9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ca10c4f8e9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c9beea2910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c9beea2910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c9beea2910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228600" y="548640"/>
            <a:ext cx="2487168" cy="2487168"/>
          </a:xfrm>
          <a:prstGeom prst="rect">
            <a:avLst/>
          </a:prstGeom>
          <a:solidFill>
            <a:srgbClr val="1A2744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374904" y="694944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58952" y="694944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143000" y="694944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527048" y="694944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911096" y="694944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2295144" y="694944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374904" y="1078992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758952" y="1078992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1143000" y="1078992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1527048" y="1078992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1911096" y="1078992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2295144" y="1078992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374904" y="1463040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758952" y="1463040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1143000" y="1463040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1527048" y="1463040"/>
            <a:ext cx="274320" cy="274320"/>
          </a:xfrm>
          <a:prstGeom prst="ellipse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1911096" y="1463040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2295144" y="1463040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374904" y="1847088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758952" y="1847088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1143000" y="1847088"/>
            <a:ext cx="274320" cy="27432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1527048" y="1847088"/>
            <a:ext cx="274320" cy="27432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1911096" y="1847088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2295144" y="1847088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374904" y="2231136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758952" y="2231136"/>
            <a:ext cx="274320" cy="274320"/>
          </a:xfrm>
          <a:prstGeom prst="ellipse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1143000" y="2231136"/>
            <a:ext cx="274320" cy="274320"/>
          </a:xfrm>
          <a:prstGeom prst="ellipse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1527048" y="2231136"/>
            <a:ext cx="274320" cy="27432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>
            <a:off x="1911096" y="2231136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2295144" y="2231136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374904" y="2615184"/>
            <a:ext cx="274320" cy="274320"/>
          </a:xfrm>
          <a:prstGeom prst="ellipse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758952" y="2615184"/>
            <a:ext cx="274320" cy="27432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"/>
          <p:cNvSpPr/>
          <p:nvPr/>
        </p:nvSpPr>
        <p:spPr>
          <a:xfrm>
            <a:off x="1143000" y="2615184"/>
            <a:ext cx="274320" cy="274320"/>
          </a:xfrm>
          <a:prstGeom prst="ellipse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1527048" y="2615184"/>
            <a:ext cx="274320" cy="27432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"/>
          <p:cNvSpPr/>
          <p:nvPr/>
        </p:nvSpPr>
        <p:spPr>
          <a:xfrm>
            <a:off x="1911096" y="2615184"/>
            <a:ext cx="274320" cy="27432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2295144" y="2615184"/>
            <a:ext cx="274320" cy="274320"/>
          </a:xfrm>
          <a:prstGeom prst="ellipse">
            <a:avLst/>
          </a:prstGeom>
          <a:solidFill>
            <a:srgbClr val="0A0F1E"/>
          </a:solidFill>
          <a:ln cap="flat" cmpd="sng" w="12700">
            <a:solidFill>
              <a:srgbClr val="1E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2926080" y="640080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b="1" i="0" lang="en-US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2926080" y="1188720"/>
            <a:ext cx="58521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Primena Minimax i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Alpha-Beta Pruning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algoritama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2926080" y="3246120"/>
            <a:ext cx="3200400" cy="36576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2926080" y="338328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Marija Todorović IN 13/2022 · Nenad Lukić IN 17/2022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2926080" y="370332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Operaciona istraživanja · FTN Novi Sad · Februar 2026.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274320" y="228600"/>
            <a:ext cx="8595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Uvod — Šta je Connect 4?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228600" y="1051560"/>
            <a:ext cx="274320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228600" y="1051560"/>
            <a:ext cx="2743200" cy="64008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320040" y="12344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♟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65760" y="192024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Strateška </a:t>
            </a: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igra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365760" y="2606040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Dva igrača naizmenično ubacuju diskove u 6×6 tablu. Disk zauzima najniže slobodno mesto u odabranoj koloni.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3154680" y="1051560"/>
            <a:ext cx="274320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3154680" y="1051560"/>
            <a:ext cx="2743200" cy="64008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3246120" y="12344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3291840" y="192024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Cilj igre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291840" y="2606040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Formirati neprekidan niz od 4 diska </a:t>
            </a:r>
            <a:r>
              <a:rPr lang="en-US" sz="11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bilo</a:t>
            </a: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horizontalno, vertikalno ili dijagonalno</a:t>
            </a:r>
            <a:r>
              <a:rPr lang="en-US" sz="115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pre protivnika.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080760" y="1051560"/>
            <a:ext cx="274320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6080760" y="1051560"/>
            <a:ext cx="2743200" cy="64008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6172200" y="12344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👁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217920" y="1920240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Savršene informacije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6217920" y="2606040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Oba igrača u svakom trenutku vide celo stanje table. Nema slučajnosti — čista strategija.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228600" y="4526280"/>
            <a:ext cx="8686800" cy="50292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320040" y="4544568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Problem: Broj mogućih stanja raste eksponencijalno → potrebni su pametni algoritmi za pretragu prostora stanja.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Arhitektura sistema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28600" y="1005840"/>
            <a:ext cx="4114800" cy="1691640"/>
          </a:xfrm>
          <a:prstGeom prst="rect">
            <a:avLst/>
          </a:prstGeom>
          <a:solidFill>
            <a:srgbClr val="1E2A4A"/>
          </a:solidFill>
          <a:ln cap="flat" cmpd="sng" w="1905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228600" y="1005840"/>
            <a:ext cx="64008" cy="169164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365760" y="1115568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65760" y="15087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Reprezentacija stanja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65760" y="1901952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NumPy matrica 6×6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0 = prazno</a:t>
            </a: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·</a:t>
            </a: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1 = igrač</a:t>
            </a: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·</a:t>
            </a: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2 = agent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663440" y="1005840"/>
            <a:ext cx="4114800" cy="1691640"/>
          </a:xfrm>
          <a:prstGeom prst="rect">
            <a:avLst/>
          </a:prstGeom>
          <a:solidFill>
            <a:srgbClr val="1E2A4A"/>
          </a:solidFill>
          <a:ln cap="flat" cmpd="sng" w="1905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4663440" y="1005840"/>
            <a:ext cx="64008" cy="169164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4800600" y="1115568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800600" y="150876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Logika igre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800600" y="1901952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drop_piece</a:t>
            </a: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·</a:t>
            </a: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is_valid_location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winning_move</a:t>
            </a: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get_valid_locations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228600" y="2926080"/>
            <a:ext cx="4114800" cy="1691640"/>
          </a:xfrm>
          <a:prstGeom prst="rect">
            <a:avLst/>
          </a:prstGeom>
          <a:solidFill>
            <a:srgbClr val="1E2A4A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228600" y="2926080"/>
            <a:ext cx="64008" cy="169164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365760" y="3035808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365760" y="34290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Agentski blok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365760" y="3822192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Minimax algoritam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Alpha-Beta Pruning optimizacija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663440" y="2926080"/>
            <a:ext cx="4114800" cy="1691640"/>
          </a:xfrm>
          <a:prstGeom prst="rect">
            <a:avLst/>
          </a:prstGeom>
          <a:solidFill>
            <a:srgbClr val="1E2A4A"/>
          </a:solidFill>
          <a:ln cap="flat" cmpd="sng" w="190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4663440" y="2926080"/>
            <a:ext cx="64008" cy="169164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4800600" y="3035808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800600" y="34290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Korisnički interfejs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800600" y="3822192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Pygame GUI · Meni sistema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Statistički panel · Vizualizacija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Python 3.12  ·  NumPy  ·  Pygame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Minimax algoritam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Kako funkcioniše?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74320" y="1371600"/>
            <a:ext cx="40233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274320" y="1371600"/>
            <a:ext cx="54864" cy="6858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11480" y="1426464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MAX čvorovi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11480" y="169164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Agent bira potez koji maksimizuje svoju procenu.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74320" y="2176272"/>
            <a:ext cx="40233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274320" y="2176272"/>
            <a:ext cx="54864" cy="6858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411480" y="223113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MIN čvorovi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11480" y="249631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Protivnik bira potez koji minimizuje agentovu procenu.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274320" y="2980944"/>
            <a:ext cx="40233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274320" y="2980944"/>
            <a:ext cx="54864" cy="6858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411480" y="303580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Rekurzija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11480" y="330098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Algoritam kreira stablo igre do zadane dubine.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74320" y="3785616"/>
            <a:ext cx="40233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274320" y="3785616"/>
            <a:ext cx="54864" cy="6858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411480" y="384048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Listovi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11480" y="410565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Svako terminalno stanje dobija ocenu heurističke funkcije.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572000" y="777240"/>
            <a:ext cx="4297680" cy="42062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2E3A5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663440" y="86868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Stablo igre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4"/>
          <p:cNvCxnSpPr/>
          <p:nvPr/>
        </p:nvCxnSpPr>
        <p:spPr>
          <a:xfrm flipH="1">
            <a:off x="5394960" y="1417320"/>
            <a:ext cx="1325880" cy="6858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4"/>
          <p:cNvCxnSpPr/>
          <p:nvPr/>
        </p:nvCxnSpPr>
        <p:spPr>
          <a:xfrm>
            <a:off x="6720840" y="1417320"/>
            <a:ext cx="1325880" cy="6858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4"/>
          <p:cNvCxnSpPr/>
          <p:nvPr/>
        </p:nvCxnSpPr>
        <p:spPr>
          <a:xfrm flipH="1">
            <a:off x="4754880" y="2240280"/>
            <a:ext cx="640080" cy="6858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4"/>
          <p:cNvCxnSpPr/>
          <p:nvPr/>
        </p:nvCxnSpPr>
        <p:spPr>
          <a:xfrm>
            <a:off x="5394960" y="2240280"/>
            <a:ext cx="640080" cy="6858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4"/>
          <p:cNvCxnSpPr/>
          <p:nvPr/>
        </p:nvCxnSpPr>
        <p:spPr>
          <a:xfrm flipH="1">
            <a:off x="7406640" y="2240280"/>
            <a:ext cx="640080" cy="6858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4"/>
          <p:cNvCxnSpPr/>
          <p:nvPr/>
        </p:nvCxnSpPr>
        <p:spPr>
          <a:xfrm>
            <a:off x="8046720" y="2240280"/>
            <a:ext cx="640080" cy="6858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4"/>
          <p:cNvCxnSpPr>
            <a:endCxn id="145" idx="0"/>
          </p:cNvCxnSpPr>
          <p:nvPr/>
        </p:nvCxnSpPr>
        <p:spPr>
          <a:xfrm>
            <a:off x="4754736" y="3063101"/>
            <a:ext cx="91500" cy="6585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4"/>
          <p:cNvCxnSpPr>
            <a:stCxn id="147" idx="0"/>
            <a:endCxn id="148" idx="0"/>
          </p:cNvCxnSpPr>
          <p:nvPr/>
        </p:nvCxnSpPr>
        <p:spPr>
          <a:xfrm>
            <a:off x="4754910" y="3108960"/>
            <a:ext cx="545700" cy="6126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4"/>
          <p:cNvCxnSpPr>
            <a:stCxn id="150" idx="0"/>
            <a:endCxn id="151" idx="0"/>
          </p:cNvCxnSpPr>
          <p:nvPr/>
        </p:nvCxnSpPr>
        <p:spPr>
          <a:xfrm flipH="1">
            <a:off x="5754840" y="3108960"/>
            <a:ext cx="280200" cy="6126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4"/>
          <p:cNvCxnSpPr>
            <a:stCxn id="150" idx="0"/>
            <a:endCxn id="153" idx="0"/>
          </p:cNvCxnSpPr>
          <p:nvPr/>
        </p:nvCxnSpPr>
        <p:spPr>
          <a:xfrm>
            <a:off x="6035040" y="3108960"/>
            <a:ext cx="222600" cy="6126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4"/>
          <p:cNvCxnSpPr>
            <a:stCxn id="155" idx="4"/>
          </p:cNvCxnSpPr>
          <p:nvPr/>
        </p:nvCxnSpPr>
        <p:spPr>
          <a:xfrm flipH="1">
            <a:off x="7086655" y="3108840"/>
            <a:ext cx="274200" cy="6858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4"/>
          <p:cNvCxnSpPr>
            <a:endCxn id="157" idx="0"/>
          </p:cNvCxnSpPr>
          <p:nvPr/>
        </p:nvCxnSpPr>
        <p:spPr>
          <a:xfrm flipH="1">
            <a:off x="8006926" y="3063276"/>
            <a:ext cx="679800" cy="6309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4"/>
          <p:cNvSpPr/>
          <p:nvPr/>
        </p:nvSpPr>
        <p:spPr>
          <a:xfrm>
            <a:off x="6583680" y="1188720"/>
            <a:ext cx="274320" cy="274320"/>
          </a:xfrm>
          <a:prstGeom prst="ellipse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6446520" y="146304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5257800" y="2011680"/>
            <a:ext cx="274320" cy="27432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5120640" y="22860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7909560" y="2011680"/>
            <a:ext cx="274320" cy="27432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7772400" y="22860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4617720" y="2834640"/>
            <a:ext cx="274320" cy="274320"/>
          </a:xfrm>
          <a:prstGeom prst="ellipse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5897880" y="2834640"/>
            <a:ext cx="274320" cy="274320"/>
          </a:xfrm>
          <a:prstGeom prst="ellipse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7223755" y="2834640"/>
            <a:ext cx="274200" cy="274200"/>
          </a:xfrm>
          <a:prstGeom prst="ellipse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8549640" y="2834640"/>
            <a:ext cx="274320" cy="274320"/>
          </a:xfrm>
          <a:prstGeom prst="ellipse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4699986" y="3721601"/>
            <a:ext cx="292500" cy="292500"/>
          </a:xfrm>
          <a:prstGeom prst="ellipse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4571970" y="4005065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5154241" y="3721601"/>
            <a:ext cx="292500" cy="292500"/>
          </a:xfrm>
          <a:prstGeom prst="ellipse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5026225" y="4005065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5608709" y="3721601"/>
            <a:ext cx="292500" cy="292500"/>
          </a:xfrm>
          <a:prstGeom prst="ellipse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5480693" y="4005065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111276" y="3721601"/>
            <a:ext cx="292500" cy="292500"/>
          </a:xfrm>
          <a:prstGeom prst="ellipse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5983260" y="4005065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6940296" y="3694176"/>
            <a:ext cx="292608" cy="292608"/>
          </a:xfrm>
          <a:prstGeom prst="ellipse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6812280" y="397764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7860676" y="3694176"/>
            <a:ext cx="292500" cy="292500"/>
          </a:xfrm>
          <a:prstGeom prst="ellipse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7732585" y="3977615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4663440" y="461772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Dub</a:t>
            </a:r>
            <a:r>
              <a:rPr lang="en-US" sz="100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ina</a:t>
            </a:r>
            <a:r>
              <a:rPr b="0" i="0" lang="en-US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pretrage = težina agenta (1·3·5)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8394301" y="3694226"/>
            <a:ext cx="292500" cy="292500"/>
          </a:xfrm>
          <a:prstGeom prst="ellipse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6" name="Google Shape;176;p4"/>
          <p:cNvCxnSpPr>
            <a:stCxn id="177" idx="0"/>
            <a:endCxn id="175" idx="0"/>
          </p:cNvCxnSpPr>
          <p:nvPr/>
        </p:nvCxnSpPr>
        <p:spPr>
          <a:xfrm flipH="1">
            <a:off x="8540700" y="3108960"/>
            <a:ext cx="146100" cy="5853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4"/>
          <p:cNvSpPr/>
          <p:nvPr/>
        </p:nvSpPr>
        <p:spPr>
          <a:xfrm>
            <a:off x="8266210" y="3986778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7400546" y="3694176"/>
            <a:ext cx="292500" cy="292500"/>
          </a:xfrm>
          <a:prstGeom prst="ellipse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7272443" y="3995915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4"/>
          <p:cNvCxnSpPr>
            <a:stCxn id="182" idx="0"/>
            <a:endCxn id="179" idx="0"/>
          </p:cNvCxnSpPr>
          <p:nvPr/>
        </p:nvCxnSpPr>
        <p:spPr>
          <a:xfrm>
            <a:off x="7360908" y="3108960"/>
            <a:ext cx="186000" cy="5853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4"/>
          <p:cNvSpPr/>
          <p:nvPr/>
        </p:nvSpPr>
        <p:spPr>
          <a:xfrm>
            <a:off x="8412480" y="310896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7086558" y="310896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5760720" y="310896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480560" y="310896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4823433" y="267454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5983585" y="2674553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8092510" y="2697478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6835123" y="2720353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4823425" y="1737474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7955285" y="1700778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6940298" y="1188728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Alpha-Beta Pruning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274370" y="1122670"/>
            <a:ext cx="2743200" cy="2286000"/>
          </a:xfrm>
          <a:prstGeom prst="rect">
            <a:avLst/>
          </a:prstGeom>
          <a:solidFill>
            <a:srgbClr val="1E2A4A"/>
          </a:solidFill>
          <a:ln cap="flat" cmpd="sng" w="1905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274370" y="116839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365810" y="1854190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Alpha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365810" y="2247382"/>
            <a:ext cx="2560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Najbolji rezultat koji MAX igrač (agent) može garantovati na datom nivou ili iznad.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3200450" y="1122670"/>
            <a:ext cx="2743200" cy="2286000"/>
          </a:xfrm>
          <a:prstGeom prst="rect">
            <a:avLst/>
          </a:prstGeom>
          <a:solidFill>
            <a:srgbClr val="1E2A4A"/>
          </a:solidFill>
          <a:ln cap="flat" cmpd="sng" w="1905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3200450" y="116839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3291890" y="1854190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3291890" y="2247382"/>
            <a:ext cx="2560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Najbolji rezultat koji MIN i</a:t>
            </a:r>
            <a:r>
              <a:rPr lang="en-US" sz="11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grač </a:t>
            </a: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1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čovek</a:t>
            </a: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) može garantovati.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6126530" y="1122670"/>
            <a:ext cx="2743200" cy="2286000"/>
          </a:xfrm>
          <a:prstGeom prst="rect">
            <a:avLst/>
          </a:prstGeom>
          <a:solidFill>
            <a:srgbClr val="1E2A4A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6126530" y="116839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✂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6217970" y="1854190"/>
            <a:ext cx="256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Pruning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6217970" y="2247382"/>
            <a:ext cx="2560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Grane koje ne utiču na finalnu odluku se preskaču → dramatično ubrzanje.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274345" y="3889218"/>
            <a:ext cx="8595300" cy="685800"/>
          </a:xfrm>
          <a:prstGeom prst="rect">
            <a:avLst/>
          </a:prstGeom>
          <a:solidFill>
            <a:srgbClr val="0D1B33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365785" y="3980658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Isti rezultat kao Minimax · </a:t>
            </a:r>
            <a:r>
              <a:rPr b="1" lang="en-US" sz="13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Značajno ubrzanje se dobija povećanjem dubine u odnosu na Minimax </a:t>
            </a:r>
            <a:r>
              <a:rPr b="1" i="0" lang="en-US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1" lang="en-US" sz="13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i="0" lang="en-US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ez gubitka kvaliteta poteza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a10c4f8e9_0_12"/>
          <p:cNvSpPr/>
          <p:nvPr/>
        </p:nvSpPr>
        <p:spPr>
          <a:xfrm>
            <a:off x="0" y="0"/>
            <a:ext cx="73200" cy="514350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ca10c4f8e9_0_12"/>
          <p:cNvSpPr/>
          <p:nvPr/>
        </p:nvSpPr>
        <p:spPr>
          <a:xfrm>
            <a:off x="274345" y="219318"/>
            <a:ext cx="8595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Alpha-beta pruning </a:t>
            </a: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algoritam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ca10c4f8e9_0_12"/>
          <p:cNvSpPr/>
          <p:nvPr/>
        </p:nvSpPr>
        <p:spPr>
          <a:xfrm>
            <a:off x="4590250" y="768025"/>
            <a:ext cx="4297800" cy="405360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2E3A5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ca10c4f8e9_0_12"/>
          <p:cNvSpPr/>
          <p:nvPr/>
        </p:nvSpPr>
        <p:spPr>
          <a:xfrm>
            <a:off x="4663440" y="868680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Stablo igre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g3ca10c4f8e9_0_12"/>
          <p:cNvCxnSpPr>
            <a:endCxn id="221" idx="0"/>
          </p:cNvCxnSpPr>
          <p:nvPr/>
        </p:nvCxnSpPr>
        <p:spPr>
          <a:xfrm flipH="1">
            <a:off x="5395000" y="1417193"/>
            <a:ext cx="1325700" cy="9009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g3ca10c4f8e9_0_12"/>
          <p:cNvCxnSpPr>
            <a:endCxn id="223" idx="0"/>
          </p:cNvCxnSpPr>
          <p:nvPr/>
        </p:nvCxnSpPr>
        <p:spPr>
          <a:xfrm>
            <a:off x="6720710" y="1417305"/>
            <a:ext cx="1326000" cy="9282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g3ca10c4f8e9_0_12"/>
          <p:cNvCxnSpPr>
            <a:stCxn id="225" idx="0"/>
            <a:endCxn id="226" idx="0"/>
          </p:cNvCxnSpPr>
          <p:nvPr/>
        </p:nvCxnSpPr>
        <p:spPr>
          <a:xfrm flipH="1">
            <a:off x="5046090" y="2578575"/>
            <a:ext cx="348900" cy="6972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" name="Google Shape;227;g3ca10c4f8e9_0_12"/>
          <p:cNvCxnSpPr>
            <a:stCxn id="225" idx="0"/>
            <a:endCxn id="228" idx="0"/>
          </p:cNvCxnSpPr>
          <p:nvPr/>
        </p:nvCxnSpPr>
        <p:spPr>
          <a:xfrm>
            <a:off x="5394990" y="2578575"/>
            <a:ext cx="378000" cy="6813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g3ca10c4f8e9_0_12"/>
          <p:cNvCxnSpPr>
            <a:stCxn id="230" idx="0"/>
          </p:cNvCxnSpPr>
          <p:nvPr/>
        </p:nvCxnSpPr>
        <p:spPr>
          <a:xfrm flipH="1">
            <a:off x="6446938" y="2619700"/>
            <a:ext cx="273900" cy="6261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g3ca10c4f8e9_0_12"/>
          <p:cNvSpPr/>
          <p:nvPr/>
        </p:nvSpPr>
        <p:spPr>
          <a:xfrm>
            <a:off x="6583680" y="1188720"/>
            <a:ext cx="274200" cy="274200"/>
          </a:xfrm>
          <a:prstGeom prst="ellipse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ca10c4f8e9_0_12"/>
          <p:cNvSpPr/>
          <p:nvPr/>
        </p:nvSpPr>
        <p:spPr>
          <a:xfrm>
            <a:off x="6446520" y="146304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ca10c4f8e9_0_12"/>
          <p:cNvSpPr/>
          <p:nvPr/>
        </p:nvSpPr>
        <p:spPr>
          <a:xfrm>
            <a:off x="5257900" y="2318093"/>
            <a:ext cx="274200" cy="27420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ca10c4f8e9_0_12"/>
          <p:cNvSpPr/>
          <p:nvPr/>
        </p:nvSpPr>
        <p:spPr>
          <a:xfrm>
            <a:off x="5120640" y="2578575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ca10c4f8e9_0_12"/>
          <p:cNvSpPr/>
          <p:nvPr/>
        </p:nvSpPr>
        <p:spPr>
          <a:xfrm>
            <a:off x="7909610" y="2345505"/>
            <a:ext cx="274200" cy="27420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ca10c4f8e9_0_12"/>
          <p:cNvSpPr/>
          <p:nvPr/>
        </p:nvSpPr>
        <p:spPr>
          <a:xfrm>
            <a:off x="7852000" y="2696375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ca10c4f8e9_0_12"/>
          <p:cNvSpPr/>
          <p:nvPr/>
        </p:nvSpPr>
        <p:spPr>
          <a:xfrm>
            <a:off x="4899861" y="3275876"/>
            <a:ext cx="292500" cy="292500"/>
          </a:xfrm>
          <a:prstGeom prst="ellipse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ca10c4f8e9_0_12"/>
          <p:cNvSpPr/>
          <p:nvPr/>
        </p:nvSpPr>
        <p:spPr>
          <a:xfrm>
            <a:off x="4699970" y="359814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ca10c4f8e9_0_12"/>
          <p:cNvSpPr/>
          <p:nvPr/>
        </p:nvSpPr>
        <p:spPr>
          <a:xfrm>
            <a:off x="5626791" y="3259863"/>
            <a:ext cx="292500" cy="292500"/>
          </a:xfrm>
          <a:prstGeom prst="ellipse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ca10c4f8e9_0_12"/>
          <p:cNvSpPr/>
          <p:nvPr/>
        </p:nvSpPr>
        <p:spPr>
          <a:xfrm>
            <a:off x="5498700" y="359814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ca10c4f8e9_0_12"/>
          <p:cNvSpPr/>
          <p:nvPr/>
        </p:nvSpPr>
        <p:spPr>
          <a:xfrm>
            <a:off x="6297434" y="3245901"/>
            <a:ext cx="292500" cy="292500"/>
          </a:xfrm>
          <a:prstGeom prst="ellipse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ca10c4f8e9_0_12"/>
          <p:cNvSpPr/>
          <p:nvPr/>
        </p:nvSpPr>
        <p:spPr>
          <a:xfrm>
            <a:off x="6169318" y="3618703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ca10c4f8e9_0_12"/>
          <p:cNvSpPr/>
          <p:nvPr/>
        </p:nvSpPr>
        <p:spPr>
          <a:xfrm>
            <a:off x="6857951" y="3266726"/>
            <a:ext cx="292500" cy="292500"/>
          </a:xfrm>
          <a:prstGeom prst="ellipse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ca10c4f8e9_0_12"/>
          <p:cNvSpPr/>
          <p:nvPr/>
        </p:nvSpPr>
        <p:spPr>
          <a:xfrm>
            <a:off x="6729860" y="3618703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ca10c4f8e9_0_12"/>
          <p:cNvSpPr/>
          <p:nvPr/>
        </p:nvSpPr>
        <p:spPr>
          <a:xfrm>
            <a:off x="7694996" y="3275863"/>
            <a:ext cx="292500" cy="292500"/>
          </a:xfrm>
          <a:prstGeom prst="ellipse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ca10c4f8e9_0_12"/>
          <p:cNvSpPr/>
          <p:nvPr/>
        </p:nvSpPr>
        <p:spPr>
          <a:xfrm>
            <a:off x="7566905" y="3618703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ca10c4f8e9_0_12"/>
          <p:cNvSpPr/>
          <p:nvPr/>
        </p:nvSpPr>
        <p:spPr>
          <a:xfrm>
            <a:off x="8236496" y="3275876"/>
            <a:ext cx="292500" cy="292500"/>
          </a:xfrm>
          <a:prstGeom prst="ellipse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ca10c4f8e9_0_12"/>
          <p:cNvSpPr/>
          <p:nvPr/>
        </p:nvSpPr>
        <p:spPr>
          <a:xfrm>
            <a:off x="8183793" y="3618703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 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ca10c4f8e9_0_12"/>
          <p:cNvSpPr/>
          <p:nvPr/>
        </p:nvSpPr>
        <p:spPr>
          <a:xfrm>
            <a:off x="310922" y="4044250"/>
            <a:ext cx="4114800" cy="777300"/>
          </a:xfrm>
          <a:prstGeom prst="rect">
            <a:avLst/>
          </a:prstGeom>
          <a:solidFill>
            <a:srgbClr val="1E2A4A"/>
          </a:solidFill>
          <a:ln cap="flat" cmpd="sng" w="12700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ca10c4f8e9_0_12"/>
          <p:cNvSpPr/>
          <p:nvPr/>
        </p:nvSpPr>
        <p:spPr>
          <a:xfrm>
            <a:off x="402355" y="4153975"/>
            <a:ext cx="3894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B0BEC5"/>
                </a:solidFill>
                <a:latin typeface="Consolas"/>
                <a:ea typeface="Consolas"/>
                <a:cs typeface="Consolas"/>
                <a:sym typeface="Consolas"/>
              </a:rPr>
              <a:t>Uslov odse</a:t>
            </a:r>
            <a:r>
              <a:rPr lang="en-US" sz="1200">
                <a:solidFill>
                  <a:srgbClr val="B0BEC5"/>
                </a:solidFill>
                <a:latin typeface="Consolas"/>
                <a:ea typeface="Consolas"/>
                <a:cs typeface="Consolas"/>
                <a:sym typeface="Consolas"/>
              </a:rPr>
              <a:t>canjа grana</a:t>
            </a:r>
            <a:r>
              <a:rPr b="0" i="0" lang="en-US" sz="1200" u="none" cap="none" strike="noStrike">
                <a:solidFill>
                  <a:srgbClr val="B0BEC5"/>
                </a:solidFill>
                <a:latin typeface="Consolas"/>
                <a:ea typeface="Consolas"/>
                <a:cs typeface="Consolas"/>
                <a:sym typeface="Consolas"/>
              </a:rPr>
              <a:t>:  α ≥ β  →  preskačemo ostatak grana (ne utiče na odluku roditelja)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3ca10c4f8e9_0_12"/>
          <p:cNvSpPr/>
          <p:nvPr/>
        </p:nvSpPr>
        <p:spPr>
          <a:xfrm>
            <a:off x="6583748" y="2331680"/>
            <a:ext cx="274200" cy="274200"/>
          </a:xfrm>
          <a:prstGeom prst="ellipse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ca10c4f8e9_0_12"/>
          <p:cNvSpPr/>
          <p:nvPr/>
        </p:nvSpPr>
        <p:spPr>
          <a:xfrm>
            <a:off x="6446488" y="26197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g3ca10c4f8e9_0_12"/>
          <p:cNvCxnSpPr>
            <a:endCxn id="246" idx="0"/>
          </p:cNvCxnSpPr>
          <p:nvPr/>
        </p:nvCxnSpPr>
        <p:spPr>
          <a:xfrm>
            <a:off x="6720848" y="1453880"/>
            <a:ext cx="0" cy="8778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g3ca10c4f8e9_0_12"/>
          <p:cNvCxnSpPr/>
          <p:nvPr/>
        </p:nvCxnSpPr>
        <p:spPr>
          <a:xfrm flipH="1">
            <a:off x="7852000" y="2629025"/>
            <a:ext cx="194700" cy="637500"/>
          </a:xfrm>
          <a:prstGeom prst="straightConnector1">
            <a:avLst/>
          </a:prstGeom>
          <a:noFill/>
          <a:ln cap="flat" cmpd="sng" w="12700">
            <a:solidFill>
              <a:srgbClr val="3A4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g3ca10c4f8e9_0_12"/>
          <p:cNvSpPr/>
          <p:nvPr/>
        </p:nvSpPr>
        <p:spPr>
          <a:xfrm flipH="1">
            <a:off x="274300" y="861725"/>
            <a:ext cx="5257800" cy="928200"/>
          </a:xfrm>
          <a:prstGeom prst="lef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ca10c4f8e9_0_12"/>
          <p:cNvSpPr txBox="1"/>
          <p:nvPr/>
        </p:nvSpPr>
        <p:spPr>
          <a:xfrm>
            <a:off x="440475" y="1141175"/>
            <a:ext cx="38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Na ovom nivou se menja</a:t>
            </a:r>
            <a:r>
              <a:rPr lang="en-US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α 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ca10c4f8e9_0_12"/>
          <p:cNvSpPr/>
          <p:nvPr/>
        </p:nvSpPr>
        <p:spPr>
          <a:xfrm flipH="1">
            <a:off x="274450" y="2018425"/>
            <a:ext cx="4917900" cy="928200"/>
          </a:xfrm>
          <a:prstGeom prst="lef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ca10c4f8e9_0_12"/>
          <p:cNvSpPr txBox="1"/>
          <p:nvPr/>
        </p:nvSpPr>
        <p:spPr>
          <a:xfrm>
            <a:off x="341000" y="2297875"/>
            <a:ext cx="394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Na ovom nivou se menja β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ca10c4f8e9_0_12"/>
          <p:cNvSpPr txBox="1"/>
          <p:nvPr/>
        </p:nvSpPr>
        <p:spPr>
          <a:xfrm>
            <a:off x="5626800" y="10845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α = 4</a:t>
            </a:r>
            <a:endParaRPr sz="12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β = </a:t>
            </a:r>
            <a:r>
              <a:rPr lang="en-US" sz="11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endParaRPr sz="12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4" name="Google Shape;254;g3ca10c4f8e9_0_12"/>
          <p:cNvSpPr txBox="1"/>
          <p:nvPr/>
        </p:nvSpPr>
        <p:spPr>
          <a:xfrm>
            <a:off x="5291275" y="2172213"/>
            <a:ext cx="105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α = -</a:t>
            </a:r>
            <a:r>
              <a:rPr lang="en-US" sz="11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∞</a:t>
            </a:r>
            <a:endParaRPr sz="5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β = 4</a:t>
            </a:r>
            <a:endParaRPr/>
          </a:p>
        </p:txBody>
      </p:sp>
      <p:sp>
        <p:nvSpPr>
          <p:cNvPr id="255" name="Google Shape;255;g3ca10c4f8e9_0_12"/>
          <p:cNvSpPr txBox="1"/>
          <p:nvPr/>
        </p:nvSpPr>
        <p:spPr>
          <a:xfrm>
            <a:off x="6604338" y="2202125"/>
            <a:ext cx="99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α = 4 </a:t>
            </a:r>
            <a:endParaRPr sz="12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β = 2</a:t>
            </a:r>
            <a:endParaRPr/>
          </a:p>
        </p:txBody>
      </p:sp>
      <p:sp>
        <p:nvSpPr>
          <p:cNvPr id="256" name="Google Shape;256;g3ca10c4f8e9_0_12"/>
          <p:cNvSpPr txBox="1"/>
          <p:nvPr/>
        </p:nvSpPr>
        <p:spPr>
          <a:xfrm>
            <a:off x="7909600" y="2205550"/>
            <a:ext cx="99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α = 4 </a:t>
            </a:r>
            <a:endParaRPr sz="12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β = -4</a:t>
            </a:r>
            <a:endParaRPr/>
          </a:p>
        </p:txBody>
      </p:sp>
      <p:sp>
        <p:nvSpPr>
          <p:cNvPr id="257" name="Google Shape;257;g3ca10c4f8e9_0_12"/>
          <p:cNvSpPr/>
          <p:nvPr/>
        </p:nvSpPr>
        <p:spPr>
          <a:xfrm>
            <a:off x="329185" y="3106788"/>
            <a:ext cx="4114800" cy="777300"/>
          </a:xfrm>
          <a:prstGeom prst="rect">
            <a:avLst/>
          </a:prstGeom>
          <a:solidFill>
            <a:srgbClr val="1E2A4A"/>
          </a:solidFill>
          <a:ln cap="flat" cmpd="sng" w="12700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ca10c4f8e9_0_12"/>
          <p:cNvSpPr/>
          <p:nvPr/>
        </p:nvSpPr>
        <p:spPr>
          <a:xfrm>
            <a:off x="420618" y="3216513"/>
            <a:ext cx="3894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onsolas"/>
              <a:buNone/>
            </a:pPr>
            <a:r>
              <a:rPr lang="en-US" sz="12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Na početku algoritma vrednosti </a:t>
            </a:r>
            <a:r>
              <a:rPr lang="en-US" sz="12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α i</a:t>
            </a:r>
            <a:r>
              <a:rPr lang="en-US" sz="5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β su -</a:t>
            </a:r>
            <a:r>
              <a:rPr lang="en-US" sz="11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∞ i</a:t>
            </a:r>
            <a:r>
              <a:rPr lang="en-US" sz="12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∞ respektivno</a:t>
            </a:r>
            <a:endParaRPr b="0" i="0" sz="12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g3ca10c4f8e9_0_12"/>
          <p:cNvSpPr/>
          <p:nvPr/>
        </p:nvSpPr>
        <p:spPr>
          <a:xfrm>
            <a:off x="6724025" y="2625650"/>
            <a:ext cx="328450" cy="621300"/>
          </a:xfrm>
          <a:custGeom>
            <a:rect b="b" l="l" r="r" t="t"/>
            <a:pathLst>
              <a:path extrusionOk="0" h="24852" w="13138">
                <a:moveTo>
                  <a:pt x="0" y="0"/>
                </a:moveTo>
                <a:cubicBezTo>
                  <a:pt x="1019" y="815"/>
                  <a:pt x="5840" y="3735"/>
                  <a:pt x="6111" y="4889"/>
                </a:cubicBezTo>
                <a:cubicBezTo>
                  <a:pt x="6383" y="6043"/>
                  <a:pt x="1222" y="6043"/>
                  <a:pt x="1629" y="6926"/>
                </a:cubicBezTo>
                <a:cubicBezTo>
                  <a:pt x="2036" y="7809"/>
                  <a:pt x="8148" y="9031"/>
                  <a:pt x="8555" y="10185"/>
                </a:cubicBezTo>
                <a:cubicBezTo>
                  <a:pt x="8963" y="11339"/>
                  <a:pt x="3531" y="13037"/>
                  <a:pt x="4074" y="13852"/>
                </a:cubicBezTo>
                <a:cubicBezTo>
                  <a:pt x="4617" y="14667"/>
                  <a:pt x="11340" y="14327"/>
                  <a:pt x="11815" y="15074"/>
                </a:cubicBezTo>
                <a:cubicBezTo>
                  <a:pt x="12290" y="15821"/>
                  <a:pt x="6722" y="17586"/>
                  <a:pt x="6926" y="18333"/>
                </a:cubicBezTo>
                <a:cubicBezTo>
                  <a:pt x="7130" y="19080"/>
                  <a:pt x="12833" y="19013"/>
                  <a:pt x="13037" y="19556"/>
                </a:cubicBezTo>
                <a:cubicBezTo>
                  <a:pt x="13241" y="20099"/>
                  <a:pt x="8488" y="20710"/>
                  <a:pt x="8148" y="21593"/>
                </a:cubicBezTo>
                <a:cubicBezTo>
                  <a:pt x="7809" y="22476"/>
                  <a:pt x="10525" y="24309"/>
                  <a:pt x="11000" y="24852"/>
                </a:cubicBezTo>
              </a:path>
            </a:pathLst>
          </a:custGeom>
          <a:noFill/>
          <a:ln cap="flat" cmpd="sng" w="9525">
            <a:solidFill>
              <a:srgbClr val="85200C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0" name="Google Shape;260;g3ca10c4f8e9_0_12"/>
          <p:cNvSpPr/>
          <p:nvPr/>
        </p:nvSpPr>
        <p:spPr>
          <a:xfrm>
            <a:off x="8107150" y="2637125"/>
            <a:ext cx="328450" cy="621300"/>
          </a:xfrm>
          <a:custGeom>
            <a:rect b="b" l="l" r="r" t="t"/>
            <a:pathLst>
              <a:path extrusionOk="0" h="24852" w="13138">
                <a:moveTo>
                  <a:pt x="0" y="0"/>
                </a:moveTo>
                <a:cubicBezTo>
                  <a:pt x="1019" y="815"/>
                  <a:pt x="5840" y="3735"/>
                  <a:pt x="6111" y="4889"/>
                </a:cubicBezTo>
                <a:cubicBezTo>
                  <a:pt x="6383" y="6043"/>
                  <a:pt x="1222" y="6043"/>
                  <a:pt x="1629" y="6926"/>
                </a:cubicBezTo>
                <a:cubicBezTo>
                  <a:pt x="2036" y="7809"/>
                  <a:pt x="8148" y="9031"/>
                  <a:pt x="8555" y="10185"/>
                </a:cubicBezTo>
                <a:cubicBezTo>
                  <a:pt x="8963" y="11339"/>
                  <a:pt x="3531" y="13037"/>
                  <a:pt x="4074" y="13852"/>
                </a:cubicBezTo>
                <a:cubicBezTo>
                  <a:pt x="4617" y="14667"/>
                  <a:pt x="11340" y="14327"/>
                  <a:pt x="11815" y="15074"/>
                </a:cubicBezTo>
                <a:cubicBezTo>
                  <a:pt x="12290" y="15821"/>
                  <a:pt x="6722" y="17586"/>
                  <a:pt x="6926" y="18333"/>
                </a:cubicBezTo>
                <a:cubicBezTo>
                  <a:pt x="7130" y="19080"/>
                  <a:pt x="12833" y="19013"/>
                  <a:pt x="13037" y="19556"/>
                </a:cubicBezTo>
                <a:cubicBezTo>
                  <a:pt x="13241" y="20099"/>
                  <a:pt x="8488" y="20710"/>
                  <a:pt x="8148" y="21593"/>
                </a:cubicBezTo>
                <a:cubicBezTo>
                  <a:pt x="7809" y="22476"/>
                  <a:pt x="10525" y="24309"/>
                  <a:pt x="11000" y="24852"/>
                </a:cubicBezTo>
              </a:path>
            </a:pathLst>
          </a:custGeom>
          <a:noFill/>
          <a:ln cap="flat" cmpd="sng" w="9525">
            <a:solidFill>
              <a:srgbClr val="85200C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6"/>
          <p:cNvSpPr/>
          <p:nvPr/>
        </p:nvSpPr>
        <p:spPr>
          <a:xfrm>
            <a:off x="274320" y="201168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Heuristička funkcija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Strateška kontrola centra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274320" y="1325880"/>
            <a:ext cx="3931920" cy="128016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2E3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365760" y="1371600"/>
            <a:ext cx="374904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# Centralne kolone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score += 10 * center_array.count(piece)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if COLUMN_COUNT % 2 == 0: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    score += 10 * center_array.count(piece)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274320" y="2697480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Svaki disk agenta u centralnoj koloni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nosi +10 poena — centar pruža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najviše mogućnosti za 4 u nizu.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4572000" y="91440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Evaluacija prozora (4 polja)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4572000" y="1353312"/>
            <a:ext cx="429768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4572000" y="1353312"/>
            <a:ext cx="45720" cy="41148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6"/>
          <p:cNvSpPr/>
          <p:nvPr/>
        </p:nvSpPr>
        <p:spPr>
          <a:xfrm>
            <a:off x="4663440" y="142646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4 agentova diska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7589520" y="142646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+100 000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4572000" y="1792224"/>
            <a:ext cx="4297680" cy="41148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6"/>
          <p:cNvSpPr/>
          <p:nvPr/>
        </p:nvSpPr>
        <p:spPr>
          <a:xfrm>
            <a:off x="4572000" y="1792224"/>
            <a:ext cx="45720" cy="41148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6"/>
          <p:cNvSpPr/>
          <p:nvPr/>
        </p:nvSpPr>
        <p:spPr>
          <a:xfrm>
            <a:off x="4663440" y="186537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 agentova + 1 prazno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7589520" y="186537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+500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4572000" y="2231136"/>
            <a:ext cx="429768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6"/>
          <p:cNvSpPr/>
          <p:nvPr/>
        </p:nvSpPr>
        <p:spPr>
          <a:xfrm>
            <a:off x="4572000" y="2231136"/>
            <a:ext cx="45720" cy="411480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>
            <a:off x="4663440" y="230428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 agentova + 2 prazna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7589520" y="23042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+100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4572000" y="2670048"/>
            <a:ext cx="4297680" cy="41148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"/>
          <p:cNvSpPr/>
          <p:nvPr/>
        </p:nvSpPr>
        <p:spPr>
          <a:xfrm>
            <a:off x="4572000" y="2670048"/>
            <a:ext cx="45720" cy="41148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6"/>
          <p:cNvSpPr/>
          <p:nvPr/>
        </p:nvSpPr>
        <p:spPr>
          <a:xfrm>
            <a:off x="4663440" y="27432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čovekova diska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7589520" y="274320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−80 000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4572000" y="3108960"/>
            <a:ext cx="429768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6"/>
          <p:cNvSpPr/>
          <p:nvPr/>
        </p:nvSpPr>
        <p:spPr>
          <a:xfrm>
            <a:off x="4572000" y="3108960"/>
            <a:ext cx="45720" cy="41148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6"/>
          <p:cNvSpPr/>
          <p:nvPr/>
        </p:nvSpPr>
        <p:spPr>
          <a:xfrm>
            <a:off x="4663440" y="31821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čovekova diska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+ 1 prazno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7589520" y="318211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−8 000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4572000" y="3547872"/>
            <a:ext cx="4297680" cy="411480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4572000" y="3547872"/>
            <a:ext cx="45720" cy="411480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4663440" y="362102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čovekova diska </a:t>
            </a: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+ 2 prazna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7589520" y="362102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−80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274320" y="4462272"/>
            <a:ext cx="8595360" cy="54864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1A1A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365760" y="4544568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Prozori se analiziraju u svim pravcima: horizontalno</a:t>
            </a:r>
            <a:r>
              <a:rPr lang="en-US" sz="115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vertikalno </a:t>
            </a:r>
            <a:r>
              <a:rPr lang="en-US" sz="115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 u</a:t>
            </a:r>
            <a:r>
              <a:rPr b="0" i="0" lang="en-US" sz="11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oba dijagonalna pravca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14"/>
          </a:solidFill>
          <a:ln cap="flat" cmpd="sng" w="12700">
            <a:solidFill>
              <a:srgbClr val="0A0A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2743200" y="731520"/>
            <a:ext cx="3657600" cy="3657600"/>
          </a:xfrm>
          <a:prstGeom prst="ellipse">
            <a:avLst/>
          </a:prstGeom>
          <a:solidFill>
            <a:srgbClr val="0D1B33">
              <a:alpha val="70196"/>
            </a:srgbClr>
          </a:solidFill>
          <a:ln cap="flat" cmpd="sng" w="254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3840480" y="1840200"/>
            <a:ext cx="14631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b="0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457225" y="329189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DEMONSTRACIJA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7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Poređenje performansi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5532120" y="960120"/>
            <a:ext cx="3383280" cy="1234440"/>
          </a:xfrm>
          <a:prstGeom prst="rect">
            <a:avLst/>
          </a:prstGeom>
          <a:solidFill>
            <a:srgbClr val="1E2A4A"/>
          </a:solidFill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7"/>
          <p:cNvSpPr/>
          <p:nvPr/>
        </p:nvSpPr>
        <p:spPr>
          <a:xfrm>
            <a:off x="5577840" y="1051560"/>
            <a:ext cx="1097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~4×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6720840" y="118872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brži od </a:t>
            </a:r>
            <a:r>
              <a:rPr lang="en-US" sz="12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minimax algoritma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na teškom nivou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5532120" y="2377440"/>
            <a:ext cx="3383280" cy="1234440"/>
          </a:xfrm>
          <a:prstGeom prst="rect">
            <a:avLst/>
          </a:prstGeom>
          <a:solidFill>
            <a:srgbClr val="1E2A4A"/>
          </a:solidFill>
          <a:ln cap="flat" cmpd="sng" w="1905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7"/>
          <p:cNvSpPr/>
          <p:nvPr/>
        </p:nvSpPr>
        <p:spPr>
          <a:xfrm>
            <a:off x="5577840" y="2468880"/>
            <a:ext cx="1097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6×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6720840" y="2606040"/>
            <a:ext cx="2103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više čvorova 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dodatnom nivou dubine za Minimax algoritam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5532120" y="3794760"/>
            <a:ext cx="3383280" cy="1234440"/>
          </a:xfrm>
          <a:prstGeom prst="rect">
            <a:avLst/>
          </a:prstGeom>
          <a:solidFill>
            <a:srgbClr val="1E2A4A"/>
          </a:solidFill>
          <a:ln cap="flat" cmpd="sng" w="1905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>
            <a:off x="5577840" y="3886200"/>
            <a:ext cx="1097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🕙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6720849" y="4023350"/>
            <a:ext cx="1874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prvi potezi </a:t>
            </a:r>
            <a:r>
              <a:rPr lang="en-US" sz="12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magenta</a:t>
            </a:r>
            <a:r>
              <a:rPr lang="en-US" sz="12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su uvek i najsporiji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700" y="1403608"/>
            <a:ext cx="5227320" cy="3136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1A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Zaključak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228600" y="1005840"/>
            <a:ext cx="4114800" cy="1600200"/>
          </a:xfrm>
          <a:prstGeom prst="rect">
            <a:avLst/>
          </a:prstGeom>
          <a:solidFill>
            <a:srgbClr val="1E2A4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320040" y="1115568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914400" y="111556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Efikasnost optimizacije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365760" y="1536192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Alpha-Beta Pruning je i</a:t>
            </a:r>
            <a:r>
              <a:rPr lang="en-US" sz="11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1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puta</a:t>
            </a: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brži od Minimax-a uz isti kvalitet poteza — potvrđena vrednost optimizacije.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663440" y="1005840"/>
            <a:ext cx="4114800" cy="1600200"/>
          </a:xfrm>
          <a:prstGeom prst="rect">
            <a:avLst/>
          </a:prstGeom>
          <a:solidFill>
            <a:srgbClr val="1E2A4A"/>
          </a:solidFill>
          <a:ln cap="flat" cmpd="sng" w="127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4754880" y="1115568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5349240" y="111556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A90D9"/>
                </a:solidFill>
                <a:latin typeface="Calibri"/>
                <a:ea typeface="Calibri"/>
                <a:cs typeface="Calibri"/>
                <a:sym typeface="Calibri"/>
              </a:rPr>
              <a:t>Heuristički značaj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4800600" y="1536192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Težine za centralna polja i analiza prozora osiguravaju i defanzivnu i ofanzivnu igru agenta.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228600" y="2834640"/>
            <a:ext cx="4114800" cy="1600200"/>
          </a:xfrm>
          <a:prstGeom prst="rect">
            <a:avLst/>
          </a:prstGeom>
          <a:solidFill>
            <a:srgbClr val="1E2A4A"/>
          </a:solidFill>
          <a:ln cap="flat" cmpd="sng" w="12700">
            <a:solidFill>
              <a:srgbClr val="E9456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320040" y="2944368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914400" y="294436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Eksponencijalni rast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365760" y="3364992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Svaki novi nivo dubine donosi </a:t>
            </a:r>
            <a:r>
              <a:rPr lang="en-US" sz="11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 do</a:t>
            </a: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6× više čvorova — hardverske limitacije pokazuju neophodnost naprednih tehnika.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4663440" y="2834640"/>
            <a:ext cx="4114800" cy="1600200"/>
          </a:xfrm>
          <a:prstGeom prst="rect">
            <a:avLst/>
          </a:prstGeom>
          <a:solidFill>
            <a:srgbClr val="1E2A4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4754880" y="2944368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⏱</a:t>
            </a:r>
            <a:endParaRPr b="0" i="0" sz="22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5349240" y="294436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Dinamika izvršavanja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4800600" y="3364992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Početak partije najsporiji (prazna tabla); brzina odluke raste kako se tabla popunjava.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Marija Todorović IN 13/2022 · Nenad Lukić IN 17/2022 | Operaciona istraživanja · FTN | Februar 2026.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14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9beea2910_0_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14"/>
          </a:solidFill>
          <a:ln cap="flat" cmpd="sng" w="12700">
            <a:solidFill>
              <a:srgbClr val="0A0A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c9beea2910_0_8"/>
          <p:cNvSpPr/>
          <p:nvPr/>
        </p:nvSpPr>
        <p:spPr>
          <a:xfrm>
            <a:off x="2563350" y="566825"/>
            <a:ext cx="4017300" cy="3822300"/>
          </a:xfrm>
          <a:prstGeom prst="ellipse">
            <a:avLst/>
          </a:prstGeom>
          <a:solidFill>
            <a:srgbClr val="0D1B33">
              <a:alpha val="70200"/>
            </a:srgbClr>
          </a:solidFill>
          <a:ln cap="flat" cmpd="sng" w="25400">
            <a:solidFill>
              <a:srgbClr val="4A90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c9beea2910_0_8"/>
          <p:cNvSpPr/>
          <p:nvPr/>
        </p:nvSpPr>
        <p:spPr>
          <a:xfrm>
            <a:off x="457200" y="222884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n-US" sz="3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HVALA NA PAŽNJI!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2026-02-20T07:05:10Z</dcterms:created>
  <dc:creator>PptxGenJS</dc:creator>
</cp:coreProperties>
</file>